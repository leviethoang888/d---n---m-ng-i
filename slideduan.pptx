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75">
  <p:sldMasterIdLst>
    <p:sldMasterId id="2147483648" r:id="rId1"/>
  </p:sldMasterIdLst>
  <p:notesMasterIdLst>
    <p:notesMasterId r:id="rId22"/>
  </p:notesMasterIdLst>
  <p:sldIdLst>
    <p:sldId id="273" r:id="rId3"/>
    <p:sldId id="393" r:id="rId4"/>
    <p:sldId id="400" r:id="rId5"/>
    <p:sldId id="440" r:id="rId6"/>
    <p:sldId id="570" r:id="rId7"/>
    <p:sldId id="569" r:id="rId8"/>
    <p:sldId id="571" r:id="rId9"/>
    <p:sldId id="572" r:id="rId10"/>
    <p:sldId id="573" r:id="rId11"/>
    <p:sldId id="574" r:id="rId12"/>
    <p:sldId id="584" r:id="rId13"/>
    <p:sldId id="575" r:id="rId14"/>
    <p:sldId id="576" r:id="rId15"/>
    <p:sldId id="566" r:id="rId16"/>
    <p:sldId id="567" r:id="rId17"/>
    <p:sldId id="579" r:id="rId18"/>
    <p:sldId id="568" r:id="rId19"/>
    <p:sldId id="580" r:id="rId20"/>
    <p:sldId id="39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29" d="100"/>
          <a:sy n="29" d="100"/>
        </p:scale>
        <p:origin x="462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103A7B-FDF7-4114-B090-0FC447D0C03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CE9EE-1C0F-4912-A297-57878968A81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73C2-354B-4990-BC4B-51997A8FA522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 b="1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61716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129999"/>
            <a:ext cx="10058400" cy="5164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6479D511-80BD-4E18-9AD1-B95ACFA50884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/>
            </a:lvl1pPr>
          </a:lstStyle>
          <a:p>
            <a:r>
              <a:rPr lang="en-US" dirty="0"/>
              <a:t>WWW.ICTU.EDU.VN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3F69-3B7A-42C5-8D03-7DFD2522ECB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2CAC-4D1F-4F64-8872-36FC5DAA7936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DA234-B3C2-4349-9F08-42DE80BE3C2D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/>
            </a:lvl1pPr>
          </a:lstStyle>
          <a:p>
            <a:fld id="{3B1D6FE2-A403-4531-9346-F0760BE9DBDA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WWW.ICTU.EDU.VN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4FD2-76E8-4F45-8468-29011002C768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E53B9C97-0D80-4B43-B4A2-7B96AA363A1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DFA468-E3DF-427E-90A4-6D8DF9CBA5BA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r>
              <a:rPr lang="en-US"/>
              <a:t>WWW.ICTU.EDU.VN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DA3A-0887-4676-9965-6A484B40FB68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2770C-EDE0-4D74-98CB-E38190A51BB8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3045-6F0D-4F84-A813-D61A3F7A03A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63999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16423"/>
            <a:ext cx="10058400" cy="5215802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spc="100">
                <a:solidFill>
                  <a:srgbClr val="FFFFFF"/>
                </a:solidFill>
              </a:defRPr>
            </a:lvl1pPr>
          </a:lstStyle>
          <a:p>
            <a:fld id="{99053045-6F0D-4F84-A813-D61A3F7A03A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cap="none" spc="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WWW.ICTU.EDU.VN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1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940435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5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b="0" i="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8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400" kern="1200" spc="2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8479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</a:t>
            </a:r>
            <a:endParaRPr lang="en-US" sz="2000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2565" y="2381858"/>
            <a:ext cx="12192000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ĐẾM NGƯỜI RA VÀO PHÒNG </a:t>
            </a:r>
            <a:endParaRPr lang="vi-VN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12</a:t>
            </a:r>
            <a:endParaRPr lang="vi-V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 VIỆT HOÀNG </a:t>
            </a:r>
            <a:endParaRPr lang="vi-V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DƯƠNG THÁI SƠN </a:t>
            </a:r>
            <a:endParaRPr lang="vi-VN" altLang="en-US" sz="2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593261" y="1239512"/>
            <a:ext cx="30728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35" y="442908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742756" y="5707951"/>
            <a:ext cx="477456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THÁI NGUYÊN, THÁNG 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NĂM 202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vi-V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EA5CC-4E62-455B-9CFF-5B1BBAD1B79F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>
                <a:solidFill>
                  <a:srgbClr val="0070C0"/>
                </a:solidFill>
              </a:rPr>
              <a:t>Nội </a:t>
            </a:r>
            <a:r>
              <a:rPr lang="en-US" sz="3500" dirty="0">
                <a:solidFill>
                  <a:srgbClr val="0070C0"/>
                </a:solidFill>
              </a:rPr>
              <a:t>dung </a:t>
            </a:r>
            <a:r>
              <a:rPr lang="en-US" sz="3500" dirty="0" err="1">
                <a:solidFill>
                  <a:srgbClr val="0070C0"/>
                </a:solidFill>
              </a:rPr>
              <a:t>chính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  <a:r>
              <a:rPr lang="en-US" sz="3500" dirty="0" err="1">
                <a:solidFill>
                  <a:srgbClr val="0070C0"/>
                </a:solidFill>
              </a:rPr>
              <a:t>của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  <a:r>
              <a:rPr lang="vi-VN" altLang="en-US" sz="3500" dirty="0">
                <a:solidFill>
                  <a:srgbClr val="0070C0"/>
                </a:solidFill>
              </a:rPr>
              <a:t>báo cáo 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  <a:endParaRPr lang="en-US" sz="35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355" y="1542415"/>
            <a:ext cx="11318875" cy="42240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</a:t>
            </a:r>
            <a:r>
              <a:rPr lang="vi-VN" altLang="en-US" sz="4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ương 1</a:t>
            </a:r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vi-V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Cảm biến hồng ngoại và nguyên lý phát hiện vật cản.</a:t>
            </a:r>
            <a:endParaRPr lang="vi-VN" altLang="en-US" sz="40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</a:t>
            </a:r>
            <a:r>
              <a:rPr lang="vi-VN" altLang="en-US" sz="4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ương 2</a:t>
            </a:r>
            <a:r>
              <a:rPr lang="en-US" sz="4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vi-VN" altLang="en-US" sz="4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Mạch kết nối ,thuật toán đếm vào ra.</a:t>
            </a:r>
            <a:endParaRPr lang="vi-VN" altLang="en-US" sz="400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</a:t>
            </a:r>
            <a:r>
              <a:rPr lang="vi-VN" altLang="en-US" sz="4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ương 3</a:t>
            </a:r>
            <a:r>
              <a:rPr lang="en-US" sz="4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lang="vi-VN" altLang="en-US" sz="40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Kiểm tra độ chính xác và xử lý lỗi đếm</a:t>
            </a:r>
            <a:r>
              <a:rPr lang="vi-VN" altLang="en-US" sz="270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.</a:t>
            </a:r>
            <a:endParaRPr lang="en-US" sz="27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700" dirty="0">
              <a:solidFill>
                <a:schemeClr val="accent6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3914" y="6405852"/>
            <a:ext cx="790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155238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AAC9F-5454-4B7B-B01E-C765205D696E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187" y="360726"/>
            <a:ext cx="10058400" cy="617163"/>
          </a:xfrm>
        </p:spPr>
        <p:txBody>
          <a:bodyPr/>
          <a:lstStyle/>
          <a:p>
            <a:pPr algn="ctr"/>
            <a:r>
              <a:rPr lang="vi-VN" altLang="nl-NL" sz="3000">
                <a:solidFill>
                  <a:schemeClr val="accent6"/>
                </a:solidFill>
              </a:rPr>
              <a:t>Mục tiêu và yêu cầu đề </a:t>
            </a:r>
            <a:r>
              <a:rPr lang="vi-VN" altLang="nl-NL" sz="3000">
                <a:solidFill>
                  <a:schemeClr val="accent6"/>
                </a:solidFill>
              </a:rPr>
              <a:t>bài </a:t>
            </a:r>
            <a:endParaRPr lang="vi-VN" altLang="nl-NL" sz="300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170" y="1168266"/>
            <a:ext cx="11279322" cy="5144488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Đếm số người ra / vào cửa bằng hai cảm biến  hồng ngoại (</a:t>
            </a:r>
            <a:r>
              <a:rPr lang="vi-V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IR)</a:t>
            </a:r>
            <a:endParaRPr lang="vi-V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vi-V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hướng di chuyển dựa trên thứ tự kích hoạt  A--&gt;B  hoặc B--&gt;A để tăng giảm bộ đế</a:t>
            </a:r>
            <a:r>
              <a:rPr lang="vi-V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vi-V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lang="vi-V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vi-V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số người hiện tại trên giao diện </a:t>
            </a:r>
            <a:r>
              <a:rPr lang="vi-VN" altLang="en-US" sz="2400" b="1" i="1" u="heavy">
                <a:latin typeface="Times New Roman" panose="02020603050405020304" pitchFamily="18" charset="0"/>
                <a:cs typeface="Times New Roman" panose="02020603050405020304" pitchFamily="18" charset="0"/>
              </a:rPr>
              <a:t>(Wi-Fi  AP-STA).</a:t>
            </a:r>
            <a:endParaRPr lang="vi-VN" altLang="en-US" sz="2400" b="1" i="1" u="heavy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0" y="155238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B801F-3563-4A37-A520-00AD91C60E90}" type="datetime1">
              <a:rPr lang="en-US" smtClean="0"/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Cấu trúc hệ thống đếm </a:t>
            </a:r>
            <a:r>
              <a:rPr lang="vi-VN" altLang="en-US" dirty="0">
                <a:solidFill>
                  <a:srgbClr val="0070C0"/>
                </a:solidFill>
              </a:rPr>
              <a:t>người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860" y="1329156"/>
            <a:ext cx="11138227" cy="51644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Cảm biến hồng ngoại phát hiện 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ời ra/vào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Vi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iều khiển xử l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tín hiệu và xác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ịnh chiều di chuyển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Bộ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ếm tự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ộng 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ng/giảm theo số 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Hiển thị kết quả trên LCD và giao diện Web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10" name="Picture 9" descr="Bạn có biết hệ thống máy đếm người hoạt động như thế nào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465" y="3429000"/>
            <a:ext cx="4716780" cy="259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Đếm số người ra vào phòng và Bật Tắt thiết bị sử dụng Arduino - Phần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60" y="3676650"/>
            <a:ext cx="3794760" cy="2596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Tổng quan hệ </a:t>
            </a:r>
            <a:r>
              <a:rPr lang="vi-VN" altLang="en-US" dirty="0">
                <a:solidFill>
                  <a:srgbClr val="0070C0"/>
                </a:solidFill>
              </a:rPr>
              <a:t>thống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4" name="Image 0" descr="/mnt/data/extract_a5b761a7.pn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69465" y="3260090"/>
            <a:ext cx="7223760" cy="2651760"/>
          </a:xfrm>
          <a:prstGeom prst="rect">
            <a:avLst/>
          </a:prstGeom>
        </p:spPr>
      </p:pic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sp>
        <p:nvSpPr>
          <p:cNvPr id="5" name="Text Box 4"/>
          <p:cNvSpPr txBox="1"/>
          <p:nvPr/>
        </p:nvSpPr>
        <p:spPr>
          <a:xfrm>
            <a:off x="3048000" y="2890520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vi-VN" alt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Đ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ầu vào: DO từ IR A &amp; IR B.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Xử lý: FSM + cửa sổ thời gian để suy ra hướng.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Đầu ra: peopleCount và cập nhật web dashboard.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470025" y="1945005"/>
            <a:ext cx="72967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Đầu vào:</a:t>
            </a:r>
            <a:r>
              <a:rPr lang="vi-VN" altLang="en-US" sz="2400" u="heavy">
                <a:latin typeface="Times New Roman" panose="02020603050405020304" pitchFamily="18" charset="0"/>
                <a:cs typeface="Times New Roman" panose="02020603050405020304" pitchFamily="18" charset="0"/>
              </a:rPr>
              <a:t>DO từ IR A và IR B</a:t>
            </a:r>
            <a:endParaRPr lang="vi-VN" altLang="en-US" sz="2400" u="heavy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2400" u="heavy">
                <a:latin typeface="Times New Roman" panose="02020603050405020304" pitchFamily="18" charset="0"/>
                <a:cs typeface="Times New Roman" panose="02020603050405020304" pitchFamily="18" charset="0"/>
              </a:rPr>
              <a:t>Xử lý : FSM + cửa sổ thời gian   để suy ra hướng .</a:t>
            </a:r>
            <a:endParaRPr lang="vi-VN" altLang="en-US" sz="2400" u="heavy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 sz="2400" u="heavy">
                <a:latin typeface="Times New Roman" panose="02020603050405020304" pitchFamily="18" charset="0"/>
                <a:cs typeface="Times New Roman" panose="02020603050405020304" pitchFamily="18" charset="0"/>
              </a:rPr>
              <a:t>Đầu ra : peopleCount và cập nhật web dash board.</a:t>
            </a:r>
            <a:endParaRPr lang="vi-VN" altLang="en-US" sz="2400" u="heavy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altLang="en-US" sz="2400" u="heavy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Chương 1: Cảm biến IR và nguyên lý phát hiện vật </a:t>
            </a:r>
            <a:r>
              <a:rPr lang="vi-VN" altLang="en-US" dirty="0">
                <a:solidFill>
                  <a:srgbClr val="0070C0"/>
                </a:solidFill>
              </a:rPr>
              <a:t>cản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427" y="1129999"/>
            <a:ext cx="11138227" cy="51644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Phản xạ: IR phát → vật cản phản xạ → thu → DO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ổi trạng thái.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Cắt tia (break‑beam): 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ời che tia giữa TX‑RX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→ ổn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ịnh hơn trong môi tr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ờng nhiễu.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Yếu tố ảnh h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ởng: ánh sáng mạnh, khoảng cách, góc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ặt,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vật liệu phản xạ.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5" name="Image 0" descr="/mnt/data/extract_7a69b8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980" y="1671320"/>
            <a:ext cx="4076700" cy="4344670"/>
          </a:xfrm>
          <a:prstGeom prst="rect">
            <a:avLst/>
          </a:prstGeom>
        </p:spPr>
      </p:pic>
      <p:sp>
        <p:nvSpPr>
          <p:cNvPr id="446" name="Google Shape;446;p32"/>
          <p:cNvSpPr txBox="1"/>
          <p:nvPr/>
        </p:nvSpPr>
        <p:spPr>
          <a:xfrm>
            <a:off x="310975" y="2392075"/>
            <a:ext cx="5098200" cy="204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●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○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■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●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○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■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●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Didact Gothic" panose="00000500000000000000"/>
              <a:buChar char="○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Didact Gothic" panose="00000500000000000000"/>
              <a:buChar char="■"/>
              <a:defRPr sz="1400" b="0" i="0" u="none" strike="noStrike" cap="none">
                <a:solidFill>
                  <a:srgbClr val="FFFFFF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Phản xạ: IR phát → vật cản phản xạ → thu → DO đổi trạ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vi-V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_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ng thái.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Cắt tia (break‑beam): người che tia giữa TX‑RX → ổn định hơn trong môi trường nhiễu.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Yếu tố ảnh hưởng: ánh sáng mạnh, khoảng cách, góc đặt, vật liệu phản xạ.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Didact Gothic" panose="00000500000000000000"/>
              <a:cs typeface="Times New Roman" panose="02020603050405020304" pitchFamily="18" charset="0"/>
              <a:sym typeface="Didact Gothic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Chương 1: Bố trí cảm biến tại cửa và suy ra </a:t>
            </a:r>
            <a:r>
              <a:rPr lang="vi-VN" altLang="en-US" dirty="0">
                <a:solidFill>
                  <a:srgbClr val="0070C0"/>
                </a:solidFill>
              </a:rPr>
              <a:t>hướng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32" name="Image 0" descr="/mnt/data/extract_cc8f3c6a.png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5505" y="1350010"/>
            <a:ext cx="7223760" cy="265176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29285" y="4273550"/>
            <a:ext cx="10236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Quy ước: A--&gt;B=Vào;B--&gt;A=Ra(có thể đảo theo lắp </a:t>
            </a: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đặt).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Khoảng cách A--B gợi ý bằng 10-20 cm để phân tách sự kiện theo thời </a:t>
            </a: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gian .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: tránh nhầm lẫn khi người đi chậm / đứng giữa </a:t>
            </a: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cửa .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Chương 2: thiết kế phần </a:t>
            </a:r>
            <a:r>
              <a:rPr lang="vi-VN" altLang="en-US" dirty="0">
                <a:solidFill>
                  <a:srgbClr val="0070C0"/>
                </a:solidFill>
              </a:rPr>
              <a:t>cứng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4098" name="Picture 2" descr="ESP8266 NodeMCU: Factory Re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935" y="2271395"/>
            <a:ext cx="3258820" cy="168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9"/>
          <p:cNvSpPr txBox="1"/>
          <p:nvPr/>
        </p:nvSpPr>
        <p:spPr>
          <a:xfrm>
            <a:off x="7479030" y="4211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ESP8266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NodeMCU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966470" y="1369695"/>
            <a:ext cx="6268720" cy="4796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ESP8266 (NodeMCU): Wi‑Fi tích hợp, chạy web server.Quy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ớc: A→B = Vào; B→A = Ra (có thể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ảo theo lắp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ặt)</a:t>
            </a: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Khoảng cách A–B gợi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ý 10–20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cm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ể phân tách sự kiện theo thời gian.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tiêu: tránh nhầm lẫn khi 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ời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chậm/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ứng giữa cửa.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2× IR: tạo tín hiệu số DO khi phát hiện vật cản.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Logic 3.3V: GPIO ESP8266 không chịu 5V</a:t>
            </a: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nên 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ấp nguồn: USB 5V → onboard regulator 3.3V.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Chương 2: Mạch kết </a:t>
            </a:r>
            <a:r>
              <a:rPr lang="vi-VN" altLang="en-US" dirty="0">
                <a:solidFill>
                  <a:srgbClr val="0070C0"/>
                </a:solidFill>
              </a:rPr>
              <a:t>nối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16" name="Picture 8" descr="Đếm số người ra vào phòng sử dụng cảm biến hồng ngoại Arduino | ARDUINO KIT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095" y="1643380"/>
            <a:ext cx="3804920" cy="217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7114540" y="3973830"/>
            <a:ext cx="387921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s</a:t>
            </a:r>
            <a:r>
              <a:rPr lang="vi-V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ơ đồ mạch kết nối </a:t>
            </a:r>
            <a:endParaRPr lang="vi-V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741045" y="1643380"/>
            <a:ext cx="4064000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Kết nối tối giản: DO_A/DO_B → GPIO; VCC=3V3; GND chung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lưu ý an toàn 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GPIO không chịu 5V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Dùng chung GND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Nếu DO active‑LOW: INPUT_PULLUP +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ảo mức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Dây tín hiệu ngắn, có thể thêm tụ lọc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Lưu đồ thuật toán điều </a:t>
            </a:r>
            <a:r>
              <a:rPr lang="vi-VN" altLang="en-US" dirty="0">
                <a:solidFill>
                  <a:srgbClr val="0070C0"/>
                </a:solidFill>
              </a:rPr>
              <a:t>khiển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sp>
        <p:nvSpPr>
          <p:cNvPr id="4" name="Content Placeholder 3"/>
          <p:cNvSpPr/>
          <p:nvPr>
            <p:ph idx="1"/>
          </p:nvPr>
        </p:nvSpPr>
        <p:spPr>
          <a:xfrm>
            <a:off x="173355" y="904240"/>
            <a:ext cx="6463030" cy="5332730"/>
          </a:xfrm>
        </p:spPr>
        <p:txBody>
          <a:bodyPr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Hệ thống khởi tạo LCD, cảm biến hồng ngoại, WiFi và WebServer.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ESP8266 liên tục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ọc tín hiệu từ hai cảm biến IR_A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endParaRPr lang="vi-V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IR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endParaRPr lang="vi-V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Nếu IR_A nhận tín hiệu tr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ớc IR_B, hệ thống xác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ịnh 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ời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 vào và 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ng bộ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ếm.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Nếu IR_B nhận tín hiệu tr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ớc IR_A, hệ thống xác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ịnh 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ời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 ra và giảm bộ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ếm.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Sau khi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ếm, số ng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ời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ợc cập nhật lên LCD và giao diện Web.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bieud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110" y="1029335"/>
            <a:ext cx="5432425" cy="5417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Sơ đồ nguyên </a:t>
            </a:r>
            <a:r>
              <a:rPr lang="vi-VN" altLang="en-US" dirty="0">
                <a:solidFill>
                  <a:srgbClr val="0070C0"/>
                </a:solidFill>
              </a:rPr>
              <a:t>lý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" y="1129665"/>
            <a:ext cx="11267440" cy="5275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Chương 2 :Thiết kế phần </a:t>
            </a:r>
            <a:r>
              <a:rPr lang="vi-VN" altLang="en-US" dirty="0">
                <a:solidFill>
                  <a:srgbClr val="0070C0"/>
                </a:solidFill>
              </a:rPr>
              <a:t>mềm 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18" name="Content Placeholder 17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825" y="1072515"/>
            <a:ext cx="2347595" cy="516445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4792980" y="1130300"/>
            <a:ext cx="5855335" cy="4976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Wi‑Fi: chạy AP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ể demo hoặc STA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ể dùng trong mạng LAN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web: hiển thị peopleCount + trạng thái IR_A/IR_B; có nút reset.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realtime: WebSocket (khuyến nghị) hoặc polling/AJAX.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en-US" dirty="0">
                <a:solidFill>
                  <a:srgbClr val="0070C0"/>
                </a:solidFill>
              </a:rPr>
              <a:t>Chương 2: Thuật toán đếm vào </a:t>
            </a:r>
            <a:r>
              <a:rPr lang="vi-VN" altLang="en-US" dirty="0">
                <a:solidFill>
                  <a:srgbClr val="0070C0"/>
                </a:solidFill>
              </a:rPr>
              <a:t>ra</a:t>
            </a:r>
            <a:endParaRPr lang="vi-VN" alt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" y="1710690"/>
            <a:ext cx="7562850" cy="3810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012430" y="2053590"/>
            <a:ext cx="4180205" cy="55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Chỉ đếm khi cảm biến thứ 2 xuất hiện trong T_WINDOW.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Nếu timeout:hủy lượt ,quay về IDLE.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Sau khi đếm : lockout ngắn để tránh đếm lặp.</a:t>
            </a:r>
            <a:endParaRPr lang="vi-V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16949"/>
            <a:ext cx="10058400" cy="617163"/>
          </a:xfrm>
        </p:spPr>
        <p:txBody>
          <a:bodyPr/>
          <a:lstStyle/>
          <a:p>
            <a:pPr algn="ctr"/>
            <a:r>
              <a:rPr lang="vi-VN" altLang="en-US" sz="3000" dirty="0">
                <a:solidFill>
                  <a:srgbClr val="0070C0"/>
                </a:solidFill>
              </a:rPr>
              <a:t>Chương 3: xử lý lỗi đếm và tăng độ tin </a:t>
            </a:r>
            <a:r>
              <a:rPr lang="vi-VN" altLang="en-US" sz="3000" dirty="0">
                <a:solidFill>
                  <a:srgbClr val="0070C0"/>
                </a:solidFill>
              </a:rPr>
              <a:t>cậy</a:t>
            </a:r>
            <a:endParaRPr lang="vi-VN" altLang="en-US" sz="3000" dirty="0">
              <a:solidFill>
                <a:srgbClr val="0070C0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9265" y="1599565"/>
            <a:ext cx="5810250" cy="4219575"/>
          </a:xfrm>
          <a:prstGeom prst="rect">
            <a:avLst/>
          </a:prstGeom>
        </p:spPr>
      </p:pic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365" y="1727835"/>
            <a:ext cx="52197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16949"/>
            <a:ext cx="10058400" cy="617163"/>
          </a:xfrm>
        </p:spPr>
        <p:txBody>
          <a:bodyPr/>
          <a:lstStyle/>
          <a:p>
            <a:pPr algn="ctr"/>
            <a:r>
              <a:rPr lang="vi-VN" altLang="en-US" sz="3000" dirty="0">
                <a:solidFill>
                  <a:srgbClr val="0070C0"/>
                </a:solidFill>
              </a:rPr>
              <a:t>Chương 3: </a:t>
            </a:r>
            <a:r>
              <a:rPr lang="vi-VN" altLang="en-US" sz="3000" dirty="0">
                <a:solidFill>
                  <a:srgbClr val="0070C0"/>
                </a:solidFill>
              </a:rPr>
              <a:t>Kiểm thử và đánh giá độ chính </a:t>
            </a:r>
            <a:r>
              <a:rPr lang="vi-VN" altLang="en-US" sz="3000" dirty="0">
                <a:solidFill>
                  <a:srgbClr val="0070C0"/>
                </a:solidFill>
              </a:rPr>
              <a:t>xác </a:t>
            </a:r>
            <a:endParaRPr lang="vi-VN" altLang="en-US" sz="3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640" y="1127738"/>
            <a:ext cx="11386952" cy="5164475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95" y="1697990"/>
            <a:ext cx="9934575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16949"/>
            <a:ext cx="10058400" cy="617163"/>
          </a:xfrm>
        </p:spPr>
        <p:txBody>
          <a:bodyPr/>
          <a:lstStyle/>
          <a:p>
            <a:pPr algn="ctr"/>
            <a:r>
              <a:rPr lang="vi-VN" altLang="en-US" sz="3000" dirty="0">
                <a:solidFill>
                  <a:srgbClr val="0070C0"/>
                </a:solidFill>
              </a:rPr>
              <a:t>Mô hình thực tế của hệ </a:t>
            </a:r>
            <a:r>
              <a:rPr lang="vi-VN" altLang="en-US" sz="3000" dirty="0">
                <a:solidFill>
                  <a:srgbClr val="0070C0"/>
                </a:solidFill>
              </a:rPr>
              <a:t>thống </a:t>
            </a:r>
            <a:endParaRPr lang="vi-VN" altLang="en-US" sz="3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640" y="1127738"/>
            <a:ext cx="10769040" cy="5164475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ư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ới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đây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thực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thế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nhóm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đạt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đ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ư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ợc</a:t>
            </a:r>
            <a:r>
              <a:rPr lang="vi-VN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" y="2011045"/>
            <a:ext cx="5274945" cy="39236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060" y="2010410"/>
            <a:ext cx="5451475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16949"/>
            <a:ext cx="10058400" cy="617163"/>
          </a:xfrm>
        </p:spPr>
        <p:txBody>
          <a:bodyPr/>
          <a:lstStyle/>
          <a:p>
            <a:pPr algn="ctr"/>
            <a:r>
              <a:rPr lang="vi-VN" altLang="en-US" sz="3000" dirty="0">
                <a:solidFill>
                  <a:srgbClr val="0070C0"/>
                </a:solidFill>
              </a:rPr>
              <a:t>Kết quả thực nghi</a:t>
            </a:r>
            <a:r>
              <a:rPr lang="vi-VN" altLang="en-US" sz="3000" dirty="0">
                <a:solidFill>
                  <a:srgbClr val="0070C0"/>
                </a:solidFill>
              </a:rPr>
              <a:t>ệm </a:t>
            </a:r>
            <a:endParaRPr lang="vi-VN" altLang="en-US" sz="3000" dirty="0">
              <a:solidFill>
                <a:srgbClr val="0070C0"/>
              </a:solidFill>
            </a:endParaRPr>
          </a:p>
        </p:txBody>
      </p:sp>
      <p:pic>
        <p:nvPicPr>
          <p:cNvPr id="10" name="Content Placeholder 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94080" y="1130300"/>
            <a:ext cx="4247515" cy="2136140"/>
          </a:xfrm>
          <a:prstGeom prst="rect">
            <a:avLst/>
          </a:prstGeom>
        </p:spPr>
      </p:pic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8218426" y="6492558"/>
            <a:ext cx="2584850" cy="365125"/>
          </a:xfrm>
        </p:spPr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" y="4110990"/>
            <a:ext cx="3634740" cy="213550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294005" y="5799455"/>
            <a:ext cx="506285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vi-VN" alt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115" y="1034415"/>
            <a:ext cx="4266565" cy="223075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902335" y="3504565"/>
            <a:ext cx="445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Hình 1: 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Trước khi có người ra vào phòng</a:t>
            </a:r>
            <a:r>
              <a:rPr lang="vi-VN" altLang="en-US"/>
              <a:t> </a:t>
            </a:r>
            <a:endParaRPr lang="vi-VN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7091680" y="3498850"/>
            <a:ext cx="406400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Hình 3:</a:t>
            </a:r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hiển thị trên web</a:t>
            </a:r>
            <a:endParaRPr lang="vi-V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4631690" y="5799455"/>
            <a:ext cx="406400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Hình2:Sau khi có người ra vào phòng </a:t>
            </a:r>
            <a:endParaRPr lang="vi-V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16949"/>
            <a:ext cx="10058400" cy="617163"/>
          </a:xfrm>
        </p:spPr>
        <p:txBody>
          <a:bodyPr/>
          <a:lstStyle/>
          <a:p>
            <a:pPr algn="ctr"/>
            <a:r>
              <a:rPr lang="vi-VN" altLang="en-US" sz="3000" dirty="0">
                <a:solidFill>
                  <a:srgbClr val="0070C0"/>
                </a:solidFill>
              </a:rPr>
              <a:t>Kết </a:t>
            </a:r>
            <a:r>
              <a:rPr lang="vi-VN" altLang="en-US" sz="3000" dirty="0">
                <a:solidFill>
                  <a:srgbClr val="0070C0"/>
                </a:solidFill>
              </a:rPr>
              <a:t>luận </a:t>
            </a:r>
            <a:endParaRPr lang="vi-VN" altLang="en-US" sz="3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640" y="1127738"/>
            <a:ext cx="11203998" cy="5164475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</a:tabLs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áp ứng yêu cầu: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ếm IN/OUT bằng 2 IR + ESP8266, hiển thị trên web.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</a:tabLst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Chi phí thấp, dễ lắp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ặt, tránh vấn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ề riêng 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 với camera.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Hạn chế: sai khi 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ời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sát/song song hoặc nhiễu ánh sáng mạnh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ớng phát triển: break‑beam/ToF, tự hiệu chuẩn tham số, ghi log &amp;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ồng bộ nhiều cửa.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51" y="250105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3913" y="6405852"/>
            <a:ext cx="7344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 Thái 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8460-204B-4B4F-AB69-D1077021E1A9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8479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593261" y="1239512"/>
            <a:ext cx="30728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2" descr="Logo Trường Đại học Công nghệ Thông tin và Truyền thông – [ICTU]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35" y="442908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444941" y="5656516"/>
            <a:ext cx="477456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THÁI NGUYÊN, THÁNG 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NĂM 202</a:t>
            </a:r>
            <a:r>
              <a:rPr lang="vi-VN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vi-VN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4"/>
          <p:cNvSpPr txBox="1"/>
          <p:nvPr/>
        </p:nvSpPr>
        <p:spPr>
          <a:xfrm>
            <a:off x="3200400" y="2490232"/>
            <a:ext cx="7729020" cy="1106953"/>
          </a:xfrm>
          <a:prstGeom prst="rect">
            <a:avLst/>
          </a:prstGeom>
        </p:spPr>
        <p:txBody>
          <a:bodyPr lIns="109728" tIns="109728" rIns="109728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b="1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9600">
                <a:solidFill>
                  <a:srgbClr val="0066FF"/>
                </a:solidFill>
                <a:latin typeface="Edwardian Script ITC" panose="030303020407070D0804" pitchFamily="66" charset="0"/>
              </a:rPr>
              <a:t>Thank you!</a:t>
            </a:r>
            <a:endParaRPr lang="vi-VN" sz="9600" dirty="0">
              <a:solidFill>
                <a:srgbClr val="0066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3913" y="6405852"/>
            <a:ext cx="9724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A7D8-E9BC-4C3E-8DC5-47F6E9808BEB}" type="datetime1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85.8309448818898,&quot;left&quot;:90.58062992125984,&quot;top&quot;:99.0967716535433,&quot;width&quot;:762.5806299212597}"/>
</p:tagLst>
</file>

<file path=ppt/theme/theme1.xml><?xml version="1.0" encoding="utf-8"?>
<a:theme xmlns:a="http://schemas.openxmlformats.org/drawingml/2006/main" name="Retrospect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Georgia Pro Cond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5078</Words>
  <Application>WPS Presentation</Application>
  <PresentationFormat>Widescreen</PresentationFormat>
  <Paragraphs>275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Calibri</vt:lpstr>
      <vt:lpstr>Aharoni</vt:lpstr>
      <vt:lpstr>Yu Gothic UI Semibold</vt:lpstr>
      <vt:lpstr>Tahoma</vt:lpstr>
      <vt:lpstr>Calibri</vt:lpstr>
      <vt:lpstr>Didact Gothic</vt:lpstr>
      <vt:lpstr>Segoe Print</vt:lpstr>
      <vt:lpstr>Edwardian Script ITC</vt:lpstr>
      <vt:lpstr>Speak Pro</vt:lpstr>
      <vt:lpstr>Microsoft YaHei</vt:lpstr>
      <vt:lpstr>Arial Unicode MS</vt:lpstr>
      <vt:lpstr>RetrospectVTI</vt:lpstr>
      <vt:lpstr>PowerPoint 演示文稿</vt:lpstr>
      <vt:lpstr>Nội dung chính của báo cáo  </vt:lpstr>
      <vt:lpstr>Mục tiêu và yêu cầu đề bài </vt:lpstr>
      <vt:lpstr>Cấu trúc hệ thống đếm người </vt:lpstr>
      <vt:lpstr>Tổng quan hệ thống </vt:lpstr>
      <vt:lpstr>Chương 1: Cảm biến IR và nguyên lý phát hiện vật cản </vt:lpstr>
      <vt:lpstr>Chương 1: Bố trí cảm biến tại cửa và suy ra hướng </vt:lpstr>
      <vt:lpstr>Chương 2: thiết kế phần cứng </vt:lpstr>
      <vt:lpstr>Chương 2: Mạch kết nối </vt:lpstr>
      <vt:lpstr>Lưu đồ thuật toán điều khiển </vt:lpstr>
      <vt:lpstr>Chương 2 :Thiết kế phần mềm </vt:lpstr>
      <vt:lpstr>Chương 2 :Thiết kế phần mềm </vt:lpstr>
      <vt:lpstr>Chương 2: Thuật toán đếm vào ra</vt:lpstr>
      <vt:lpstr>Chương 3: xử lý lỗi đếm và tăng độ tin cậy</vt:lpstr>
      <vt:lpstr>Chương 3: Kiểm thử và đánh giá độ chính xác </vt:lpstr>
      <vt:lpstr>Mô hình thực tế của hệ thống </vt:lpstr>
      <vt:lpstr>Kết quả thực nghiệm </vt:lpstr>
      <vt:lpstr>Kết luận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CÔNG TÁC TỔ CHỨC ĐÀO TẠO KẾT HỢP NĂM HỌC 2022-2023</dc:title>
  <dc:creator>Đỗ Văn Toàn</dc:creator>
  <cp:lastModifiedBy>MSI Laptop</cp:lastModifiedBy>
  <cp:revision>160</cp:revision>
  <dcterms:created xsi:type="dcterms:W3CDTF">2023-07-26T00:28:00Z</dcterms:created>
  <dcterms:modified xsi:type="dcterms:W3CDTF">2026-04-28T02:46:38Z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20A8FB0A716A4CB099358A3550DCC2B3_13</vt:lpwstr>
  </property>
</Properties>
</file>